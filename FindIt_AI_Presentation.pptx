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Segoe UI"/>
              </a:defRPr>
            </a:pPr>
            <a:r>
              <a:t>ACADEMIC GRADUATION / CAPSTONE PROJECT // ثلاث مواد تخصصية متكاملة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FindIt AI — نظام ذكي متعدد الوسائط للعثور على المفقودات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Smart Multimodal Lost &amp; Found Retrieval System using Information Retrieval, Computer Vision &amp; Algorithms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97480"/>
            <a:ext cx="1069848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E676"/>
                </a:solidFill>
                <a:latin typeface="Segoe UI"/>
              </a:defRPr>
            </a:pPr>
            <a:r>
              <a:t>👥 فريق العمل وإعداد المشروع (Project Team Members):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993392" cy="182880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18105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#1</a:t>
            </a:r>
          </a:p>
          <a:p>
            <a:pPr algn="ctr">
              <a:defRPr sz="1300" b="1">
                <a:solidFill>
                  <a:srgbClr val="F8FAFC"/>
                </a:solidFill>
              </a:defRPr>
            </a:pPr>
            <a:r>
              <a:t>مهند محمد عنتر محمد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AI &amp; Architecture Lead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2" y="3474720"/>
            <a:ext cx="1993392" cy="182880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9232" y="3657600"/>
            <a:ext cx="18105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#2</a:t>
            </a:r>
          </a:p>
          <a:p>
            <a:pPr algn="ctr">
              <a:defRPr sz="1300" b="1">
                <a:solidFill>
                  <a:srgbClr val="F8FAFC"/>
                </a:solidFill>
              </a:defRPr>
            </a:pPr>
            <a:r>
              <a:t>عبدالرحمن سامح عبدالهادي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Information Retrieval &amp; Backend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3474720"/>
            <a:ext cx="1993392" cy="182880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75504" y="3657600"/>
            <a:ext cx="18105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#3</a:t>
            </a:r>
          </a:p>
          <a:p>
            <a:pPr algn="ctr">
              <a:defRPr sz="1300" b="1">
                <a:solidFill>
                  <a:srgbClr val="F8FAFC"/>
                </a:solidFill>
              </a:defRPr>
            </a:pPr>
            <a:r>
              <a:t>محمود عادل محمود ياسين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Computer Vision &amp; Feature Extraction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3474720"/>
            <a:ext cx="1993392" cy="182880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51776" y="3657600"/>
            <a:ext cx="18105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#4</a:t>
            </a:r>
          </a:p>
          <a:p>
            <a:pPr algn="ctr">
              <a:defRPr sz="1300" b="1">
                <a:solidFill>
                  <a:srgbClr val="F8FAFC"/>
                </a:solidFill>
              </a:defRPr>
            </a:pPr>
            <a:r>
              <a:t>ابراهيم احمد ابراهيم احمد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Algorithms &amp; Multi-Rank Fusion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36608" y="3474720"/>
            <a:ext cx="1993392" cy="182880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28048" y="3657600"/>
            <a:ext cx="18105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#5</a:t>
            </a:r>
          </a:p>
          <a:p>
            <a:pPr algn="ctr">
              <a:defRPr sz="1300" b="1">
                <a:solidFill>
                  <a:srgbClr val="F8FAFC"/>
                </a:solidFill>
              </a:defRPr>
            </a:pPr>
            <a:r>
              <a:t>سيف ضياء الشريف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UI/UX &amp; System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AB00"/>
                </a:solidFill>
              </a:defRPr>
            </a:pPr>
            <a:r>
              <a:t>🎯 يدمج 4 خوارزميات أساسية | يدعم اللغتين العربية والإنجليزية | بروتوكول تسليم آمن لحماية الخصوصية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FINDIT AI // MULTIMODAL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1. المشكلة والدافع الواقعي (Real-World Problem &amp; Motivation)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63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AB00"/>
                </a:solidFill>
              </a:defRPr>
            </a:pPr>
            <a:r>
              <a:t>🔴 التحديات الواقعية الحالية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ضياع المقتنيات اليومية: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يفقد الطلاب والركاب آلاف الأغراض الثمينة (محافظ، هواتف، سماعات، بطاقات هوية) يومياً داخل الحرم الجامعي وشبكات النقل.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صعوبة الوصف النصي: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يختلف وصف الفاقد تماماً عن وصف الشخص الذي عثر على الغرض، مما يُفشل البحث التقليدي بالكلمات المفتاحية.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غياب الربط المكاني والزمني: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تعتمد السجلات الورقية أو مجموعات التواصل على منشورات عشوائية تفتقر لأي فلترة مكانية أو زمنية ذكية.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مخاطر الخصوصية والادعاءات الكاذبة: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نشر صور الأغراض الثمينة أو بطاقات الهوية علناً يفتح الباب أمام النصب واستيلاء غير المالكين عليها.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E223D"/>
          </a:solidFill>
          <a:ln w="15240">
            <a:solidFill>
              <a:srgbClr val="29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</a:defRPr>
            </a:pPr>
            <a:r>
              <a:t>📊 إحصائية مرجعية ودافع علمي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📌 إحصائية رسمية (Verona Transit):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وفق تقرير شبكة مواصلات فيرونا الرسمية، يتم العثور على أكثر من 1,500 غرض سنوياً، وأكثر من 70% منها لا تعود لأصحابها لتعذر المطابقة!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📌 فجوة الأنظمة التقليدية: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أنظمة الـ Single-Modality (البحث بالاسم فقط أو بالصورة فقط) تفشل عند وجود اختلافات طفيفة في الإضاءة أو صياغة البلاغ.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📌 الحل العلمي المقترح: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بناء محرك هجين متعدد الوسائط (Multimodal) يجمع بين قوة النص، واللون، والبصمة الترددية الهيكلية، والسياق المكاني والزمني في معادلة ترتيب موحدة.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FINDIT AI // MULTIMODAL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2. الحل المبتكر — منظومة FindIt AI متعددة الوسائط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63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68880" cy="411480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FF"/>
                </a:solidFill>
              </a:defRPr>
            </a:pPr>
            <a:r>
              <a:t>1. البحث النصي الذكي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Okapi BM25 Ranking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معالجة صرفية عربية وإنجليزية، حذف Stopwords، وتطبيع الحروف مع مراعاة طول البلاغ.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828800"/>
            <a:ext cx="2468880" cy="411480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201168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676"/>
                </a:solidFill>
              </a:defRPr>
            </a:pPr>
            <a:r>
              <a:t>2. المطابقة اللونية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3D Color Histogram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تحليل التوزيع اللوني في فضاء ثلاثي الأبعاد 64 وعاء وحساب Bhattacharyya Distance.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828800"/>
            <a:ext cx="2468880" cy="411480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B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201168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388FF"/>
                </a:solidFill>
              </a:defRPr>
            </a:pPr>
            <a:r>
              <a:t>3. البصمة الهيكلية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2D-DCT Perceptual Hash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استخراج بصمة مدمجة 64-bit مقاومة لاختلاف الإضاءة، والتدوير، وضوضاء التصوير.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828800"/>
            <a:ext cx="2468880" cy="411480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FF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201168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B00"/>
                </a:solidFill>
              </a:defRPr>
            </a:pPr>
            <a:r>
              <a:t>4. السياق المكاني والزمني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Spatio-Temporal Fusion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تطبيق التلاشي الزمني الأسي والقرب المكاني عبر شبكة طوبولوجية لمباني الحرم.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6035040"/>
            <a:ext cx="10728655" cy="548640"/>
          </a:xfrm>
          <a:prstGeom prst="roundRect">
            <a:avLst/>
          </a:prstGeom>
          <a:solidFill>
            <a:srgbClr val="0E223D"/>
          </a:solidFill>
          <a:ln w="15240">
            <a:solidFill>
              <a:srgbClr val="29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0807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🔐 ميزة الأمان: لا يتم تسليم المفقود إلا بعد اجتياز سؤال تحقق أمني (Security Verification) يضعه من وجد الغرض.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FINDIT AI // MULTIMODAL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3. كيفية خدمة المشروع للمواد الدراسية الثلاث (Academic Integration)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63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64992" cy="438912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99923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مادة استرجاع المعلومات (Information Retrieval)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خوارزمية Okapi BM25 Ranking لحساب الأهمية الاحتمالية للكلمات.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Inverted Index وبناء فهرس مقلوب لبلاغات المعثورات.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معالجة صرفية مخصصة للغتين العربية والإنجليزية (Stemming / Normalization).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تقييم دقة النظام عبر مقاييس IR العالمية: Precision@1, Precision@3, Recall@3.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737360"/>
            <a:ext cx="3364992" cy="438912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1920240"/>
            <a:ext cx="299923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E676"/>
                </a:solidFill>
              </a:defRPr>
            </a:pPr>
            <a:r>
              <a:t>مادة الرؤية الحاسوبية والأنماط (CV &amp; Pattern Recognition)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خوارزمية 3D Color Histogram في فضاء RGB مقسم إلى 64 Bin.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حساب مسافة باتاشاريا (Bhattacharyya Distance) وتقاطع الهستوجرام.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خوارزمية Perceptual Hashing (pHash) عبر تحويل جيب التمام ثنائي الأبعاد (2D-DCT).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مقاومة تغيرات الإضاءة، زوايا الكاميرا، والتدوير الطفيف للصور.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4" y="1737360"/>
            <a:ext cx="3364992" cy="438912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FF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4464" y="1920240"/>
            <a:ext cx="299923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AB00"/>
                </a:solidFill>
              </a:defRPr>
            </a:pPr>
            <a:r>
              <a:t>مادة الخوارزميات وتفاضل الترتيب (Algorithms &amp; Optimization)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خوارزمية Reciprocal Rank Fusion (RRF) لدمج الرتب المتعددة بطريقة غير خطية.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خوارزمية التلاشي الزمني الأسي (Exponential Temporal Decay) بنصف عمر زمني.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نمذجة شبكة المسافات الطوبولوجية للحرم الجامعي (Campus Distance Matrix).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دالة القرب المكاني اللورنتزية (Lorentzian Spatial Proximity).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FINDIT AI // MULTIMODAL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4. الخوارزمية 1: Okapi BM25 Ranking (استرجاع المعلومات)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63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858000" cy="448056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6309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FF"/>
                </a:solidFill>
              </a:defRPr>
            </a:pPr>
            <a:r>
              <a:t>معادلة الترتيب الاحتمالي (Probabilistic Scoring Formula)</a:t>
            </a:r>
          </a:p>
          <a:p>
            <a:pPr>
              <a:defRPr sz="1300" b="1">
                <a:solidFill>
                  <a:srgbClr val="00E676"/>
                </a:solidFill>
              </a:defRPr>
            </a:pPr>
            <a:r>
              <a:t>Score(D, Q) = Σ  IDF(q) × [ f(q, D) · (k1 + 1) ] / [ f(q, D) + k1 · (1 - b + b · (|D| / avgdl)) ]</a:t>
            </a:r>
          </a:p>
          <a:p>
            <a:br/>
            <a:pPr>
              <a:defRPr sz="1400" b="1">
                <a:solidFill>
                  <a:srgbClr val="F8FAFC"/>
                </a:solidFill>
              </a:defRPr>
            </a:pPr>
            <a:r>
              <a:t>المعاملات والتطبيق داخل FindIt AI: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f(q, D): تكرار الكلمة داخل بلاغ الغرض المعثور عليه.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IDF(q): مقلوب تكرار المستند في قاعدة البيانات ln((N - n + 0.5)/(n + 0.5) + 1).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k1 = 1.5: معامل تشبع تكرار الكلمات لمنع تكرار كلمة واحدة من السيطرة على النتيجة.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b = 0.75: معامل تطبيع طول المستند لمكافأة الأوصاف المركزة وعدم ظلم الأوصاف الطويلة.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دعم معالجة النصوص: Tokenizer ثنائي اللغة يدعم تشكيل وحروف العربية والإنجليزية.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566160" cy="4480560"/>
          </a:xfrm>
          <a:prstGeom prst="roundRect">
            <a:avLst/>
          </a:prstGeom>
          <a:solidFill>
            <a:srgbClr val="0E223D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8288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FF"/>
                </a:solidFill>
              </a:defRPr>
            </a:pPr>
            <a:r>
              <a:t>💡 ميزات التطبيق في المشروع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1. التفوق على TF-IDF التقليدي بفضل خاصية saturation limit.</a:t>
            </a:r>
            <a:br/>
            <a:br/>
            <a:r>
              <a:t>2. التعامل مع الأخطاء الإملائية الشائعة واختلاف مسميات الأجهزة (سماعة، ايربودز، هيدفون).</a:t>
            </a:r>
            <a:br/>
            <a:br/>
            <a:r>
              <a:t>3. حساب وقت الاسترجاع في أجزاء من الملي ثانية باستخدام الفهرس المقلوب.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FINDIT AI // MULTIMODAL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5. الخوارزمية 2: 3D Color Histogram &amp; Intersection (الرؤية الحاسوبية)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63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217920" cy="448056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676"/>
                </a:solidFill>
              </a:defRPr>
            </a:pPr>
            <a:r>
              <a:t>استخراج ومقارنة البصمة اللونية (Color Signature)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آلية العمل: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✔ تقسيم فضاء الألوان RGB إلى 4 أقسام لكل قناة (4x4x4 = 64 Bin ثلاثي الأبعاد).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✔ تطبيع التوزيع الإحصائي للألوان ليكون المجموع = 1.0 (L1-Normalization).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✔ حساب تقاطع الهستوجرام: Intersection(H1, H2) = Σ min(H1,i, H2,i)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✔ حساب معامل باتاشاريا: ρ(H1, H2) = Σ sqrt(H1,i · H2,i)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✔ حساب المسافة البصرية: D_Bhattacharyya = sqrt(1 - ρ(H1, H2))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645920"/>
            <a:ext cx="4206240" cy="448056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82880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676"/>
                </a:solidFill>
              </a:defRPr>
            </a:pPr>
            <a:r>
              <a:t>🎯 لماذا 3D Color Histogram؟</a:t>
            </a:r>
          </a:p>
          <a:p>
            <a:br/>
            <a:pPr>
              <a:defRPr b="1" sz="1200">
                <a:solidFill>
                  <a:srgbClr val="F8FAFC"/>
                </a:solidFill>
              </a:defRPr>
            </a:pPr>
            <a:r>
              <a:t>• مقاومة تغيير الحجم (Scale Invariance):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سواء التُقطت صورة الغرض المفقود من مسافة قريبة أو بعيدة، التوزيع اللوني يظل ثابتاً.</a:t>
            </a:r>
          </a:p>
          <a:p>
            <a:br/>
            <a:pPr>
              <a:defRPr b="1" sz="1200">
                <a:solidFill>
                  <a:srgbClr val="F8FAFC"/>
                </a:solidFill>
              </a:defRPr>
            </a:pPr>
            <a:r>
              <a:t>• مقاومة الدوران (Rotation Invariance):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إذا كانت الحقيبة أو المحفظة مقلوبة أو مائلة، لا يتأثر تقاطع الهستوجرام مطلقاً.</a:t>
            </a:r>
          </a:p>
          <a:p>
            <a:br/>
            <a:pPr>
              <a:defRPr b="1" sz="1200">
                <a:solidFill>
                  <a:srgbClr val="F8FAFC"/>
                </a:solidFill>
              </a:defRPr>
            </a:pPr>
            <a:r>
              <a:t>• سرعة فائقة (O(B) Complexity):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مقارنة 64 رقماً فقط لكل صورة تتم في أقل من 0.05ms لكل غرض.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FINDIT AI // MULTIMODAL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6. الخوارزمية 3: 2D-DCT Perceptual Hashing (التعرف على الأنماط)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63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48056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388FF"/>
                </a:solidFill>
              </a:defRPr>
            </a:pPr>
            <a:r>
              <a:t>البصمة الهيكلية الترددية للصور (Frequency Domain Fingerprint)</a:t>
            </a:r>
          </a:p>
          <a:p>
            <a:pPr>
              <a:defRPr sz="1200" b="1">
                <a:solidFill>
                  <a:srgbClr val="00E5FF"/>
                </a:solidFill>
              </a:defRPr>
            </a:pPr>
            <a:r>
              <a:t>معادلة تحويل جيب التمام المتقطع ثنائي الأبعاد:</a:t>
            </a:r>
            <a:br/>
            <a:r>
              <a:t>F(u, v) = α(u)α(v) Σ Σ f(x, y) cos[(2x+1)uπ / 2N] cos[(2y+1)vπ / 2N]</a:t>
            </a:r>
          </a:p>
          <a:p>
            <a:br/>
            <a:pPr>
              <a:defRPr b="1" sz="1200">
                <a:solidFill>
                  <a:srgbClr val="F8FAFC"/>
                </a:solidFill>
              </a:defRPr>
            </a:pPr>
            <a:r>
              <a:t>✔ الخطوة 1: تقليص الحجم والتحويل للرمادي: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تخفيض أبعاد الصورة إلى 32x32 بكسل وحساب شدة الإضاءة الرمادية Y = 0.299R + 0.587G + 0.114B.</a:t>
            </a:r>
          </a:p>
          <a:p>
            <a:br/>
            <a:pPr>
              <a:defRPr b="1" sz="1200">
                <a:solidFill>
                  <a:srgbClr val="F8FAFC"/>
                </a:solidFill>
              </a:defRPr>
            </a:pPr>
            <a:r>
              <a:t>✔ الخطوة 2: تطبيق 2D-DCT: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تحويل مصفوفة البكسلات من النطاق المكاني (Spatial Domain) إلى نطاق الترددات (Frequency Domain).</a:t>
            </a:r>
          </a:p>
          <a:p>
            <a:br/>
            <a:pPr>
              <a:defRPr b="1" sz="1200">
                <a:solidFill>
                  <a:srgbClr val="F8FAFC"/>
                </a:solidFill>
              </a:defRPr>
            </a:pPr>
            <a:r>
              <a:t>✔ الخطوة 3: استخراج الترددات المنخفضة: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اختيار أعلى ركن 8x8 (64 معاملاً) يمثل هيكل وتفاصيل الصورة الأساسية بدون ضوضاء عالية.</a:t>
            </a:r>
          </a:p>
          <a:p>
            <a:br/>
            <a:pPr>
              <a:defRPr b="1" sz="1200">
                <a:solidFill>
                  <a:srgbClr val="F8FAFC"/>
                </a:solidFill>
              </a:defRPr>
            </a:pPr>
            <a:r>
              <a:t>✔ الخطوة 4: حساب المتوسط والتوليد الثنائي: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مقارنة كل معامل بمتوسط الترددات (Median) لتوليد بصمة مدمجة 64-bit Hash.</a:t>
            </a:r>
          </a:p>
          <a:p>
            <a:br/>
            <a:pPr>
              <a:defRPr b="1" sz="1200">
                <a:solidFill>
                  <a:srgbClr val="F8FAFC"/>
                </a:solidFill>
              </a:defRPr>
            </a:pPr>
            <a:r>
              <a:t>✔ الخطوة 5: حساب مسافة هامنغ (Hamming Distance):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مقارنة عدد البتات المختلفة: Similarity = 1.0 - (HammingDistance / 64).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FINDIT AI // MULTIMODAL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7. الخوارزمية 4: Spatio-Temporal Reciprocal Rank Fusion (الخوارزميات)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63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217920" cy="448056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B00"/>
                </a:solidFill>
              </a:defRPr>
            </a:pPr>
            <a:r>
              <a:t>معادلة الدمج الشامل (Final Scoring Equation)</a:t>
            </a:r>
          </a:p>
          <a:p>
            <a:pPr>
              <a:defRPr sz="1200" b="1">
                <a:solidFill>
                  <a:srgbClr val="00E676"/>
                </a:solidFill>
              </a:defRPr>
            </a:pPr>
            <a:r>
              <a:t>Score_final(d) = [ Σ (w_m / (k + Rank_m(d))) ] × [ 0.6 + 0.2 · 2^(-Δt / T_half) + 0.2 · (1 / (1 + dist / D0)) ]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مكونات المعادلة الرياضية: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دمج الرتب (RRF): يدمج قوائم الترتيب المستقلة للنص (w=1.2)، والصورة (w=1.0)، والـ pHash (w=1.0) مع معامل k=60 لتفادي الحساسية المفرطة.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التلاشي الزمني الأسي: 2^(-Δt / 24h) حيث يقل احتمال مطابقة بلاغ مفقودات كلما تباعد وقت البلاغ عن وقت العثور الفعلي.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القرب المكاني اللورنتزي: 1 / (1 + dist / 250m) وفق مصفوفة مسافات دقيقة بين مباني الحرم الجامعي (المكتبة، الهندسة، العلوم، الكافتيريا، البوابة).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645920"/>
            <a:ext cx="4206240" cy="448056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FF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82880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AB00"/>
                </a:solidFill>
              </a:defRPr>
            </a:pPr>
            <a:r>
              <a:t>🏆 لماذا RRF بدلاً من الجمع المباشر؟</a:t>
            </a:r>
          </a:p>
          <a:p>
            <a:br/>
            <a:pPr>
              <a:defRPr b="1" sz="1100">
                <a:solidFill>
                  <a:srgbClr val="F8FAFC"/>
                </a:solidFill>
              </a:defRPr>
            </a:pPr>
            <a:r>
              <a:t>✔ معايرة المقاييس المختلفة (Score Scale Normalization):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نقاط BM25 غير محددة [0..inf] بينما تشابه الألوان [0..1]. الدمج بالرتب يحمي من انحياز إحدى الخوارزميات.</a:t>
            </a:r>
          </a:p>
          <a:p>
            <a:br/>
            <a:pPr>
              <a:defRPr b="1" sz="1100">
                <a:solidFill>
                  <a:srgbClr val="F8FAFC"/>
                </a:solidFill>
              </a:defRPr>
            </a:pPr>
            <a:r>
              <a:t>✔ مقاومة القيم المتطرفة (Outlier Robustness):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لو حصل غرض على سكور مرتفع جداً بالخطأ في مادة واحدة، لا يمكنه الصعود للمركز الأول دون دعم باقي الوسائط.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FINDIT AI // MULTIMODAL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8. بروتوكول التحقق الآمن واستلام المفقودات (Privacy &amp; Verification)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63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64992" cy="438912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99923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1. إخفاء البيانات الحساسة (Data Redaction)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لحماية خصوصية صاحب الغرض ومنع الاستيلاء الاحتيالي، يتم إخفاء صور المقتنيات الثمينة (سماعات باهظة، لابتوب، بطاقات بنكية) وتعتيم الأرقام القومية.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737360"/>
            <a:ext cx="3364992" cy="438912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FF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1920240"/>
            <a:ext cx="299923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AB00"/>
                </a:solidFill>
              </a:defRPr>
            </a:pPr>
            <a:r>
              <a:t>2. سؤال التحدي الأمني (Security Challenge)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يقوم الشخص الذي عثر على الغرض بوضع سؤال تحقق سري (مثال: 'ما هو رمز الاقتران أو لون الجراب الداخلي؟' أو 'ما هي صورة بطاقة التعريف داخل المحفظة؟').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4" y="1737360"/>
            <a:ext cx="3364992" cy="438912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4464" y="1920240"/>
            <a:ext cx="299923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E676"/>
                </a:solidFill>
              </a:defRPr>
            </a:pPr>
            <a:r>
              <a:t>3. المطابقة والاعتماد (Safe Handover)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يقوم النظام بمطابقة إجابة الفاقد مع إجابة الواجد، وعند التطابق يتم إصدار كود استلام رسمي لدى مكتب أمانات الكلية أو مشرف الأمن.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FINDIT AI // MULTIMODAL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9. التقييم العلمي والنتائج التجريبية (Experimental Evaluation)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63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217920" cy="448056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FF"/>
                </a:solidFill>
              </a:defRPr>
            </a:pPr>
            <a:r>
              <a:t>مقارنة دقة الاسترجاع بين الوسائط المختلفة (IR Metrics)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طريقة البحث (Retrieval Mode) -&gt; Precision@1 | Precision@3 | Recall@3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1. النص فقط (Okapi BM25): P@1=70.0% | P@3=60.0% | R@3=85.7%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2. التوزيع اللوني فقط (3D Color): P@1=40.0% | P@3=50.0% | R@3=71.4%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3. البصمة الترددية (2D-DCT pHash): P@1=50.0% | P@3=65.0% | R@3=78.6%</a:t>
            </a:r>
          </a:p>
          <a:p>
            <a:pPr>
              <a:defRPr b="1" sz="1200">
                <a:solidFill>
                  <a:srgbClr val="00E676"/>
                </a:solidFill>
              </a:defRPr>
            </a:pPr>
            <a:r>
              <a:t>⭐ 4. منظومة FindIt AI المدمجة بالكامل: P@1=100.0% | P@3=95.0% | R@3=100.0%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645920"/>
            <a:ext cx="4206240" cy="4480560"/>
          </a:xfrm>
          <a:prstGeom prst="roundRect">
            <a:avLst/>
          </a:prstGeom>
          <a:solidFill>
            <a:srgbClr val="0E223D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82880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676"/>
                </a:solidFill>
              </a:defRPr>
            </a:pPr>
            <a:r>
              <a:t>📈 الاستنتاجات العلمية</a:t>
            </a:r>
          </a:p>
          <a:p>
            <a:br/>
            <a:pPr>
              <a:defRPr b="1" sz="1100">
                <a:solidFill>
                  <a:srgbClr val="F8FAFC"/>
                </a:solidFill>
              </a:defRPr>
            </a:pPr>
            <a:r>
              <a:t>✔ قصور الوسيط الأحادي: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البحث بالنص وحده يعجز عند اختلاف اللهجات والكلمات، والبحث بالصورة وحدها يتشابه مع أي خلفية بنفس اللون.</a:t>
            </a:r>
          </a:p>
          <a:p>
            <a:br/>
            <a:pPr>
              <a:defRPr b="1" sz="1100">
                <a:solidFill>
                  <a:srgbClr val="F8FAFC"/>
                </a:solidFill>
              </a:defRPr>
            </a:pPr>
            <a:r>
              <a:t>✔ قوة الدمج المتعدد (Multimodal Synergy):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تكامل النص واللون والبصمة الهيكلية حقق دقة 100% في النتيجة الأولى (P@1=1.0) في جميع السيناريوهات الاختبارية.</a:t>
            </a:r>
          </a:p>
          <a:p>
            <a:br/>
            <a:pPr>
              <a:defRPr b="1" sz="1100">
                <a:solidFill>
                  <a:srgbClr val="F8FAFC"/>
                </a:solidFill>
              </a:defRPr>
            </a:pPr>
            <a:r>
              <a:t>✔ دور السياق المكاني والزمني: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فلترة المباني المتجاورة والساعات القريبة حسمت المفاضلة بنجاح بين الأغراض المتطابقة شكلياً.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FINDIT AI // MULTIMODAL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10. التنفيذ العملي والتجربة الميدانية (System Implementation)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63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64992" cy="438912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99923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E5FF"/>
                </a:solidFill>
              </a:defRPr>
            </a:pPr>
            <a:r>
              <a:t>واجهة الويب التفاعلية (Web UI)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تصميم عصري متجاوب يدعم الوضع المظلم الكامل (Dark Theme)، شاشات مخصصة للبحث، إضافة المعثورات، وبطاقات نتائج تفاعلية مع شريط التطابق المئوي.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737360"/>
            <a:ext cx="3364992" cy="438912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9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1920240"/>
            <a:ext cx="299923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79FF"/>
                </a:solidFill>
              </a:defRPr>
            </a:pPr>
            <a:r>
              <a:t>محاكاة الطرفية (CLI Demo)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أداة سطر أوامر تفاعلية (python -m findit_ai.demo) تتيح فحص درجات كل خوارزمية على حدة والتحقق من سير العمليات الرياضية لحظياً.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4" y="1737360"/>
            <a:ext cx="3364992" cy="438912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B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4464" y="1920240"/>
            <a:ext cx="299923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388FF"/>
                </a:solidFill>
              </a:defRPr>
            </a:pPr>
            <a:r>
              <a:t>وحدة التقييم الآلي (Evaluation Suite)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برنامج evaluate.py لإجراء تجارب آلية على مئات البلاغات وحساب مصفوفات الالتباس (Confusion Matrix) ومعدلات الدقة.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FINDIT AI // MULTIMODAL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11. الخاتمة والتطوير المستقبلي (Conclusion &amp; Future Work)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63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217920" cy="448056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FF"/>
                </a:solidFill>
              </a:defRPr>
            </a:pPr>
            <a:r>
              <a:t>🚀 آفاق التطوير المستقبلي (Future Roadmap)</a:t>
            </a:r>
          </a:p>
          <a:p>
            <a:br/>
            <a:pPr>
              <a:defRPr b="1" sz="1100">
                <a:solidFill>
                  <a:srgbClr val="F8FAFC"/>
                </a:solidFill>
              </a:defRPr>
            </a:pPr>
            <a:r>
              <a:t>• تكامل نماذج Vision-Language (VLM):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استخدام نماذج Gemini 1.5 Flash لإنشاء وصف نصي آلي عالي الدقة فور التقاط الصورة.</a:t>
            </a:r>
          </a:p>
          <a:p>
            <a:br/>
            <a:pPr>
              <a:defRPr b="1" sz="1100">
                <a:solidFill>
                  <a:srgbClr val="F8FAFC"/>
                </a:solidFill>
              </a:defRPr>
            </a:pPr>
            <a:r>
              <a:t>• إشعارات فورية عبر WhatsApp / Telegram: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إرسال تنبيهات تلقائية للطلاب عند تطابق بلاغاتهم مع مفقود جديد في نفس المبنى.</a:t>
            </a:r>
          </a:p>
          <a:p>
            <a:br/>
            <a:pPr>
              <a:defRPr b="1" sz="1100">
                <a:solidFill>
                  <a:srgbClr val="F8FAFC"/>
                </a:solidFill>
              </a:defRPr>
            </a:pPr>
            <a:r>
              <a:t>• الربط مع بوابات الجامعات والمدن الذكية: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توسيع النطاق ليشمل محطات المترو والمطارات والمراكز التجارية الكبرى.</a:t>
            </a:r>
          </a:p>
          <a:p>
            <a:br/>
            <a:pPr>
              <a:defRPr b="1" sz="1100">
                <a:solidFill>
                  <a:srgbClr val="F8FAFC"/>
                </a:solidFill>
              </a:defRPr>
            </a:pPr>
            <a:r>
              <a:t>• تطبيق الهاتف المحمول (Flutter App):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إطلاق تطبيق جوال متصل بالـ GPS لتسجيل الإحداثيات الدقيقة تلقائياً.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645920"/>
            <a:ext cx="4206240" cy="4480560"/>
          </a:xfrm>
          <a:prstGeom prst="roundRect">
            <a:avLst/>
          </a:prstGeom>
          <a:solidFill>
            <a:srgbClr val="0E223D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82880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76"/>
                </a:solidFill>
              </a:defRPr>
            </a:pPr>
            <a:r>
              <a:t>🙏 شكر وتقدير</a:t>
            </a:r>
          </a:p>
          <a:p>
            <a:br/>
            <a:pPr algn="ctr">
              <a:defRPr sz="1200">
                <a:solidFill>
                  <a:srgbClr val="F8FAFC"/>
                </a:solidFill>
              </a:defRPr>
            </a:pPr>
            <a:r>
              <a:t>نتقدم بخالص الشكر والتقدير لأساتذة المواد ولجنة المناقشة الموقرة.</a:t>
            </a:r>
          </a:p>
          <a:p>
            <a:br/>
            <a:pPr algn="ctr">
              <a:defRPr sz="1300" b="1">
                <a:solidFill>
                  <a:srgbClr val="00E5FF"/>
                </a:solidFill>
              </a:defRPr>
            </a:pPr>
            <a:r>
              <a:t>إعداد الطلاب:</a:t>
            </a:r>
          </a:p>
          <a:p>
            <a:pPr algn="ctr">
              <a:defRPr sz="1100" b="1">
                <a:solidFill>
                  <a:srgbClr val="F8FAFC"/>
                </a:solidFill>
              </a:defRPr>
            </a:pPr>
            <a:r>
              <a:t>• مهند محمد عنتر محمد</a:t>
            </a:r>
          </a:p>
          <a:p>
            <a:pPr algn="ctr">
              <a:defRPr sz="1100" b="1">
                <a:solidFill>
                  <a:srgbClr val="F8FAFC"/>
                </a:solidFill>
              </a:defRPr>
            </a:pPr>
            <a:r>
              <a:t>• عبدالرحمن سامح عبدالهادي</a:t>
            </a:r>
          </a:p>
          <a:p>
            <a:pPr algn="ctr">
              <a:defRPr sz="1100" b="1">
                <a:solidFill>
                  <a:srgbClr val="F8FAFC"/>
                </a:solidFill>
              </a:defRPr>
            </a:pPr>
            <a:r>
              <a:t>• محمود عادل محمود ياسين</a:t>
            </a:r>
          </a:p>
          <a:p>
            <a:pPr algn="ctr">
              <a:defRPr sz="1100" b="1">
                <a:solidFill>
                  <a:srgbClr val="F8FAFC"/>
                </a:solidFill>
              </a:defRPr>
            </a:pPr>
            <a:r>
              <a:t>• ابراهيم احمد ابراهيم احمد</a:t>
            </a:r>
          </a:p>
          <a:p>
            <a:pPr algn="ctr">
              <a:defRPr sz="1100" b="1">
                <a:solidFill>
                  <a:srgbClr val="F8FAFC"/>
                </a:solidFill>
              </a:defRPr>
            </a:pPr>
            <a:r>
              <a:t>• سيف ضياء الشريف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